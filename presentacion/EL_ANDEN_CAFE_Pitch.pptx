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0307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48272"/>
            <a:ext cx="12191695" cy="18288"/>
          </a:xfrm>
          <a:prstGeom prst="rect">
            <a:avLst/>
          </a:prstGeom>
          <a:solidFill>
            <a:srgbClr val="FFE259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E259">
                    <a:alpha val="6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ANDÉN CAFÉ // THE MIDNIGHT STEAM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FFA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FFA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epen\Downloads\hmm\el-anden-cafe\presentacion\frames\f8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05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0" y="20116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CINEMATIC BRAND FILM  ·  15 s  ·  60 FPS  ·  100% SILENCIOSO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0" y="246888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spc="800" kern="0" dirty="0">
                <a:solidFill>
                  <a:srgbClr val="FFE25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EL ANDÉN CAFÉ</a:t>
            </a:r>
            <a:endParaRPr lang="en-US" sz="8000" dirty="0"/>
          </a:p>
        </p:txBody>
      </p:sp>
      <p:sp>
        <p:nvSpPr>
          <p:cNvPr id="6" name="Text 3"/>
          <p:cNvSpPr/>
          <p:nvPr/>
        </p:nvSpPr>
        <p:spPr>
          <a:xfrm>
            <a:off x="0" y="356616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spc="14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MIDNIGHT STEAM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0" y="438912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A7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“Una pausa antes de seguir”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FFA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// EL RETO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UN FILM SIN UN SOLO SONIDO.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9FB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música, sin voz y sin efectos de sonido, la imagen tiene que hacer todo el trabajo: marcar el ritmo, provocar impacto y sostener la atención durante 15 segundos.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3474720" cy="2560320"/>
          </a:xfrm>
          <a:prstGeom prst="rect">
            <a:avLst/>
          </a:prstGeom>
          <a:solidFill>
            <a:srgbClr val="0F1D16"/>
          </a:solidFill>
          <a:ln w="12700">
            <a:solidFill>
              <a:srgbClr val="FFE2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291840"/>
            <a:ext cx="3474720" cy="54864"/>
          </a:xfrm>
          <a:prstGeom prst="rect">
            <a:avLst/>
          </a:prstGeom>
          <a:solidFill>
            <a:srgbClr val="FFE25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520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FFE25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CONTRASTE LUMÍNICO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406908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Picos de exposición, flash blanco de 3 frames y oro hiperbrillante sobre negro abisal.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3291840"/>
            <a:ext cx="3474720" cy="2560320"/>
          </a:xfrm>
          <a:prstGeom prst="rect">
            <a:avLst/>
          </a:prstGeom>
          <a:solidFill>
            <a:srgbClr val="0F1D16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3291840"/>
            <a:ext cx="3474720" cy="5486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3520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00E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ÓPTICA ANAMÓRFICA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26280" y="406908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Aberración cromática RGB y destellos horizontales que funcionan como “golpes” visuales.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3291840"/>
            <a:ext cx="3474720" cy="2560320"/>
          </a:xfrm>
          <a:prstGeom prst="rect">
            <a:avLst/>
          </a:prstGeom>
          <a:solidFill>
            <a:srgbClr val="0F1D16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3291840"/>
            <a:ext cx="3474720" cy="54864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3520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00FFA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TIPOGRAFÍA CINÉTICA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75320" y="406908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Texto que entra con resorte, se desintegra y se dibuja; él lleva el ritmo.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FFA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epen\Downloads\hmm\el-anden-cafe\presentacion\frames\f19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// CONCEPTO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10972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spc="3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EL MUNDO CORRE.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48640" y="18288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spc="300" kern="0" dirty="0">
                <a:solidFill>
                  <a:srgbClr val="FFE25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NOSOTROS PARAMOS.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48640" y="2926080"/>
            <a:ext cx="5394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9FB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andén es el único lugar de una estación donde se permite esperar.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9FB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Andén Café convierte esa espera en un ritual: la velocidad del tren contra la paciencia de un espresso bien hecho.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9FB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9FB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film va de la máquina al grano: de la locomotora, que es prisa, a la cafetera, que es precisión.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FFA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// SISTEMA VISUAL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PALETA DE ALTO CONTRASTE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691640" cy="1828800"/>
          </a:xfrm>
          <a:prstGeom prst="rect">
            <a:avLst/>
          </a:prstGeom>
          <a:solidFill>
            <a:srgbClr val="030705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CARBÓN ABISAL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2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#030705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3708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Fondo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1920240"/>
            <a:ext cx="1691640" cy="1828800"/>
          </a:xfrm>
          <a:prstGeom prst="rect">
            <a:avLst/>
          </a:prstGeom>
          <a:solidFill>
            <a:srgbClr val="0A140F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38404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BOSQUE NOCTURNO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23160" y="4114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2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#0A140F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43708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1920240"/>
            <a:ext cx="1691640" cy="1828800"/>
          </a:xfrm>
          <a:prstGeom prst="rect">
            <a:avLst/>
          </a:prstGeom>
          <a:solidFill>
            <a:srgbClr val="FFE259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38404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ORO FUNDIDO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97680" y="4114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2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#FFE259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0" y="43708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Luz principal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1920240"/>
            <a:ext cx="1691640" cy="1828800"/>
          </a:xfrm>
          <a:prstGeom prst="rect">
            <a:avLst/>
          </a:prstGeom>
          <a:solidFill>
            <a:srgbClr val="FFA751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38404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ÁMBAR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4114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2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#FFA751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0" y="43708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Luz cálida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1920240"/>
            <a:ext cx="1691640" cy="1828800"/>
          </a:xfrm>
          <a:prstGeom prst="rect">
            <a:avLst/>
          </a:prstGeom>
          <a:solidFill>
            <a:srgbClr val="00FFA3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38404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ESMERALDA NEÓN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0" y="4114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2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#00FFA3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0" y="43708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Advertencia / HUD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921240" y="1920240"/>
            <a:ext cx="1691640" cy="1828800"/>
          </a:xfrm>
          <a:prstGeom prst="rect">
            <a:avLst/>
          </a:prstGeom>
          <a:solidFill>
            <a:srgbClr val="00E5FF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21240" y="38404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ZAFIRO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921240" y="4114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2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#00E5FF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921240" y="43708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Destello anamórfico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892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GROTESCA CONDENSADA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51663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E25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EL MUNDO CORRE.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48640" y="5669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Impacto: titulares en mayúscula sostenida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97680" y="4892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MONOESPACIADA TÉCNICA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97680" y="51663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E2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[ 02 // PRESIÓN EXACTA ]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297680" y="5669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Precisión: lecturas HUD y telemetría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46720" y="4892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SERIF CALIGRÁFICA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46720" y="51663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E2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pausa antes de seguir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046720" y="5669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Calidez: firma de marca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FFA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// ESTRUCTURA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900 FRAMES · 4 ACTOS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35936" cy="457200"/>
          </a:xfrm>
          <a:prstGeom prst="rect">
            <a:avLst/>
          </a:prstGeom>
          <a:solidFill>
            <a:srgbClr val="FFA75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2535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3070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ACTO 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2490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A75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LA IGNICIÓN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035808"/>
            <a:ext cx="2490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– 3.5 s  ·  210 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244449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Oscuridad, chispa, flash de 3 frames. El farol revela el túnel. “EL MUNDO CORRE.”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30296" y="2011680"/>
            <a:ext cx="3273552" cy="457200"/>
          </a:xfrm>
          <a:prstGeom prst="rect">
            <a:avLst/>
          </a:prstGeom>
          <a:solidFill>
            <a:srgbClr val="FFE259"/>
          </a:solidFill>
          <a:ln/>
        </p:spPr>
      </p:sp>
      <p:sp>
        <p:nvSpPr>
          <p:cNvPr id="10" name="Text 8"/>
          <p:cNvSpPr/>
          <p:nvPr/>
        </p:nvSpPr>
        <p:spPr>
          <a:xfrm>
            <a:off x="3130296" y="2011680"/>
            <a:ext cx="3273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3070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ACTO II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30296" y="2651760"/>
            <a:ext cx="3227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E25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LA MÁQUINA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130296" y="3035808"/>
            <a:ext cx="3227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 – 8.0 s  ·  270 f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30296" y="3383280"/>
            <a:ext cx="318211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Dolly zoom tipo Vértigo, locomotora vectorial en movimiento, vapor que se vuelve espresso. HUD técnico.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49568" y="2011680"/>
            <a:ext cx="2904744" cy="457200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15" name="Text 13"/>
          <p:cNvSpPr/>
          <p:nvPr/>
        </p:nvSpPr>
        <p:spPr>
          <a:xfrm>
            <a:off x="6449568" y="2011680"/>
            <a:ext cx="2904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3070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ACTO III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9568" y="2651760"/>
            <a:ext cx="2859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FFA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EL COLAPSO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9568" y="3035808"/>
            <a:ext cx="2859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8.0 – 12.0 s  ·  240 f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49568" y="3383280"/>
            <a:ext cx="281330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Implosión gravitacional, onda de choque, se forja el sello y lo cruza un destello anamórfico.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400032" y="2011680"/>
            <a:ext cx="2167128" cy="4572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0" name="Text 18"/>
          <p:cNvSpPr/>
          <p:nvPr/>
        </p:nvSpPr>
        <p:spPr>
          <a:xfrm>
            <a:off x="9400032" y="2011680"/>
            <a:ext cx="2167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30705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ACTO IV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400032" y="265176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E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EL SELLO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400032" y="3035808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12.0 – 15.0 s  ·  180 f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400032" y="3383280"/>
            <a:ext cx="20756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emblema respira. Caligrafía viva. Viñeta y fundido a negro en el frame 885.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FFA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 I // FRAMES 0–210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spc="200" kern="0" dirty="0">
                <a:solidFill>
                  <a:srgbClr val="FFA75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LA IGNICIÓN EN LA PENUMBRA</a:t>
            </a:r>
            <a:endParaRPr lang="en-US" sz="3400" dirty="0"/>
          </a:p>
        </p:txBody>
      </p:sp>
      <p:pic>
        <p:nvPicPr>
          <p:cNvPr id="4" name="Image 0" descr="C:\Users\pepen\Downloads\hmm\el-anden-cafe\presentacion\frames\f0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486400" cy="3086100"/>
          </a:xfrm>
          <a:prstGeom prst="rect">
            <a:avLst/>
          </a:prstGeom>
        </p:spPr>
      </p:pic>
      <p:pic>
        <p:nvPicPr>
          <p:cNvPr id="5" name="Image 1" descr="C:\Users\pepen\Downloads\hmm\el-anden-cafe\presentacion\frames\f1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37360"/>
            <a:ext cx="5486400" cy="30861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f46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17220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f100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48640" y="512064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Chispa (f18) y flash blanco de exposición (f45–48)</a:t>
            </a:r>
            <a:endParaRPr lang="en-US" sz="1400" dirty="0"/>
          </a:p>
          <a:p>
            <a:pPr marL="342900" indent="-342900"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Farol victoriano con lente Fresnel y haz volumétrico</a:t>
            </a:r>
            <a:endParaRPr lang="en-US" sz="1400" dirty="0"/>
          </a:p>
          <a:p>
            <a:pPr marL="342900" indent="-342900"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Túnel de arcos en un punto de fuga · perspective 1200px</a:t>
            </a:r>
            <a:endParaRPr lang="en-US" sz="1400" dirty="0"/>
          </a:p>
          <a:p>
            <a:pPr marL="342900" indent="-342900"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“CORRE” se desintegra en líneas de velocidad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FFA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 II // FRAMES 210–480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spc="200" kern="0" dirty="0">
                <a:solidFill>
                  <a:srgbClr val="FFE25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LA MÁQUINA Y EL GRANO</a:t>
            </a:r>
            <a:endParaRPr lang="en-US" sz="3400" dirty="0"/>
          </a:p>
        </p:txBody>
      </p:sp>
      <p:pic>
        <p:nvPicPr>
          <p:cNvPr id="4" name="Image 0" descr="C:\Users\pepen\Downloads\hmm\el-anden-cafe\presentacion\frames\f3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486400" cy="3086100"/>
          </a:xfrm>
          <a:prstGeom prst="rect">
            <a:avLst/>
          </a:prstGeom>
        </p:spPr>
      </p:pic>
      <p:pic>
        <p:nvPicPr>
          <p:cNvPr id="5" name="Image 1" descr="C:\Users\pepen\Downloads\hmm\el-anden-cafe\presentacion\frames\f4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37360"/>
            <a:ext cx="5486400" cy="30861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f320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17220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f430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48640" y="512064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Dolly zoom: scale + perspectiveOrigin</a:t>
            </a:r>
            <a:endParaRPr lang="en-US" sz="1400" dirty="0"/>
          </a:p>
          <a:p>
            <a:pPr marL="342900" indent="-342900"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Biela-manivela calculada por frame, engranajes 18:12</a:t>
            </a:r>
            <a:endParaRPr lang="en-US" sz="1400" dirty="0"/>
          </a:p>
          <a:p>
            <a:pPr marL="342900" indent="-342900"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Vapor de locomotora → vapor de espresso (feDisplacementMap)</a:t>
            </a:r>
            <a:endParaRPr lang="en-US" sz="1400" dirty="0"/>
          </a:p>
          <a:p>
            <a:pPr marL="342900" indent="-342900"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HUD: Tostado lento · Presión exacta · Alta montaña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FFA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 III // FRAMES 480–720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spc="200" kern="0" dirty="0">
                <a:solidFill>
                  <a:srgbClr val="00FFA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EL COLAPSO Y LA SÍNTESIS</a:t>
            </a:r>
            <a:endParaRPr lang="en-US" sz="3400" dirty="0"/>
          </a:p>
        </p:txBody>
      </p:sp>
      <p:pic>
        <p:nvPicPr>
          <p:cNvPr id="4" name="Image 0" descr="C:\Users\pepen\Downloads\hmm\el-anden-cafe\presentacion\frames\f5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486400" cy="3086100"/>
          </a:xfrm>
          <a:prstGeom prst="rect">
            <a:avLst/>
          </a:prstGeom>
        </p:spPr>
      </p:pic>
      <p:pic>
        <p:nvPicPr>
          <p:cNvPr id="5" name="Image 1" descr="C:\Users\pepen\Downloads\hmm\el-anden-cafe\presentacion\frames\f64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37360"/>
            <a:ext cx="5486400" cy="30861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f515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17220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f640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48640" y="512064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Implosión con aceleración bezier(0.7, 0, 0.84, 0)</a:t>
            </a:r>
            <a:endParaRPr lang="en-US" sz="1400" dirty="0"/>
          </a:p>
          <a:p>
            <a:pPr marL="342900" indent="-342900"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Onda de choque oro + esmeralda en el impacto (f535)</a:t>
            </a:r>
            <a:endParaRPr lang="en-US" sz="1400" dirty="0"/>
          </a:p>
          <a:p>
            <a:pPr marL="342900" indent="-342900"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aro dorado gira −90° → 0° y sella la lente</a:t>
            </a:r>
            <a:endParaRPr lang="en-US" sz="1400" dirty="0"/>
          </a:p>
          <a:p>
            <a:pPr marL="342900" indent="-342900"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Destello anamórfico cruza el emblema (f620–700)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FFA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 IV // FRAMES 720–900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spc="200" kern="0" dirty="0">
                <a:solidFill>
                  <a:srgbClr val="00E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EL SELLO INMORTAL</a:t>
            </a:r>
            <a:endParaRPr lang="en-US" sz="3400" dirty="0"/>
          </a:p>
        </p:txBody>
      </p:sp>
      <p:pic>
        <p:nvPicPr>
          <p:cNvPr id="4" name="Image 0" descr="C:\Users\pepen\Downloads\hmm\el-anden-cafe\presentacion\frames\f77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486400" cy="3086100"/>
          </a:xfrm>
          <a:prstGeom prst="rect">
            <a:avLst/>
          </a:prstGeom>
        </p:spPr>
      </p:pic>
      <p:pic>
        <p:nvPicPr>
          <p:cNvPr id="5" name="Image 1" descr="C:\Users\pepen\Downloads\hmm\el-anden-cafe\presentacion\frames\f86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37360"/>
            <a:ext cx="5486400" cy="30861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f770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172200" y="4846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f860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48640" y="512064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Pulso magnético del emblema: scale 1.000 ↔ 1.014</a:t>
            </a:r>
            <a:endParaRPr lang="en-US" sz="1400" dirty="0"/>
          </a:p>
          <a:p>
            <a:pPr marL="342900" indent="-342900"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“Una pausa antes de seguir” trazada con strokeDashoffset</a:t>
            </a:r>
            <a:endParaRPr lang="en-US" sz="1400" dirty="0"/>
          </a:p>
          <a:p>
            <a:pPr marL="342900" indent="-342900"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viñeta cierra hasta dejar solo farol y texto</a:t>
            </a:r>
            <a:endParaRPr lang="en-US" sz="1400" dirty="0"/>
          </a:p>
          <a:p>
            <a:pPr marL="342900" indent="-342900">
              <a:buSzPct val="100000"/>
              <a:buChar char="▸"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Fundido a negro absoluto en el frame 885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FFA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// MOTOR ÓPTICO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CÓMO SE COMPENSA EL SILENCIO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40680" cy="1965960"/>
          </a:xfrm>
          <a:prstGeom prst="rect">
            <a:avLst/>
          </a:prstGeom>
          <a:solidFill>
            <a:srgbClr val="0F1D16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64008" cy="196596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E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ABERRACIÓN CROMÁTICA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Canales R, G y B separados con feColorMatrix y recombinados en modo screen. Desfase de 2 a 4 px en los momentos de impacto.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440680" cy="1965960"/>
          </a:xfrm>
          <a:prstGeom prst="rect">
            <a:avLst/>
          </a:prstGeom>
          <a:solidFill>
            <a:srgbClr val="0F1D16"/>
          </a:solidFill>
          <a:ln w="12700">
            <a:solidFill>
              <a:srgbClr val="FFE25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920240"/>
            <a:ext cx="64008" cy="1965960"/>
          </a:xfrm>
          <a:prstGeom prst="rect">
            <a:avLst/>
          </a:prstGeom>
          <a:solidFill>
            <a:srgbClr val="FFE259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1031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E25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DESTELLO ANAMÓRFICO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46520" y="256032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Destello horizontal zafiro y oro que cruza la pantalla con interpolación exponencial.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440680" cy="1965960"/>
          </a:xfrm>
          <a:prstGeom prst="rect">
            <a:avLst/>
          </a:prstGeom>
          <a:solidFill>
            <a:srgbClr val="0F1D16"/>
          </a:solidFill>
          <a:ln w="12700">
            <a:solidFill>
              <a:srgbClr val="FFA75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069080"/>
            <a:ext cx="64008" cy="1965960"/>
          </a:xfrm>
          <a:prstGeom prst="rect">
            <a:avLst/>
          </a:prstGeom>
          <a:solidFill>
            <a:srgbClr val="FFA75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519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A75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DISTORSIÓN DE CALOR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960" y="470916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feTurbulence + feDisplacementMap con baseFrequency animada por frame: el vapor refracta la luz.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4069080"/>
            <a:ext cx="5440680" cy="1965960"/>
          </a:xfrm>
          <a:prstGeom prst="rect">
            <a:avLst/>
          </a:prstGeom>
          <a:solidFill>
            <a:srgbClr val="0F1D16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4069080"/>
            <a:ext cx="64008" cy="1965960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42519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FFA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POLVO DORADO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46520" y="470916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55–85 partículas deterministas (seno/coseno) suspendidas en el haz del farol. Mismo resultado en cada render.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FFA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// ESPECIFICACIONES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FICHA TÉCNICA</a:t>
            </a:r>
            <a:endParaRPr lang="en-US" sz="4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30705"/>
                          </a:solidFill>
                          <a:latin typeface="Impact" pitchFamily="34" charset="0"/>
                          <a:ea typeface="Impact" pitchFamily="34" charset="-122"/>
                          <a:cs typeface="Impact" pitchFamily="34" charset="-120"/>
                        </a:rPr>
                        <a:t>PARÁMETRO</a:t>
                      </a:r>
                      <a:endParaRPr lang="en-US" sz="1400" dirty="0">
                        <a:latin typeface="Impact" charset="0"/>
                        <a:ea typeface="Impact" charset="0"/>
                        <a:cs typeface="Impac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2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30705"/>
                          </a:solidFill>
                          <a:latin typeface="Impact" pitchFamily="34" charset="0"/>
                          <a:ea typeface="Impact" pitchFamily="34" charset="-122"/>
                          <a:cs typeface="Impact" pitchFamily="34" charset="-120"/>
                        </a:rPr>
                        <a:t>VALOR</a:t>
                      </a:r>
                      <a:endParaRPr lang="en-US" sz="1400" dirty="0">
                        <a:latin typeface="Impact" charset="0"/>
                        <a:ea typeface="Impact" charset="0"/>
                        <a:cs typeface="Impac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25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E25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Duración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900 frames · 15.0 s exactos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1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E25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Frame rate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60 fps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1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E25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Resolución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1920×1080 (encuadre 2.39:1) · versión 4K 3840×2160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1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E25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Audio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Ninguno: 100% silencioso por diseño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1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E25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Stack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Remotion 4 · React 18 · TypeScript estricto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1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E25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100% SVG paramétrico, sin imágenes rasterizadas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1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E25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Animación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Función pura de frame y fps; spring() y bezier(0.16, 1, 0.3, 1)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1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E25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Salida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MP4 H.264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3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D1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FFA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F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// ENTREGABLES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QUÉ SE ENTREGA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FFA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463040" y="1920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E25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MASTER 1080p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23042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el-anden-cafe.mp4 · H.264 · 60 fps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FFA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463040" y="2926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E25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MASTER 4K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33101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Composición MainComposition-4K lista para render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FFA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463040" y="39319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E25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CÓDIGO FUENTE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43159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Proyecto Remotion modular: actos, ópticas, partículas y SVG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9377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FFA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463040" y="4937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E25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PRESENTACIÓN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53218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 deck en PPTX + versión HTML + página interactiva</a:t>
            </a:r>
            <a:endParaRPr lang="en-US" sz="1400" dirty="0"/>
          </a:p>
        </p:txBody>
      </p:sp>
      <p:pic>
        <p:nvPicPr>
          <p:cNvPr id="16" name="Image 0" descr="C:\Users\pepen\Downloads\hmm\el-anden-cafe\presentacion\frames\f6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920240"/>
            <a:ext cx="4846320" cy="27249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FFA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epen\Downloads\hmm\el-anden-cafe\presentacion\frames\f77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05">
              <a:alpha val="4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0" y="283464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i="1" dirty="0">
                <a:solidFill>
                  <a:srgbClr val="FFE2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pausa antes de seguir.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spc="16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GRACIAS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FFA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El Andén Café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ANDÉN CAFÉ: THE MIDNIGHT STEAM — Cinematic Brand Film</dc:title>
  <dc:subject>PptxGenJS Presentation</dc:subject>
  <dc:creator>PptxGenJS</dc:creator>
  <cp:lastModifiedBy>PptxGenJS</cp:lastModifiedBy>
  <cp:revision>1</cp:revision>
  <dcterms:created xsi:type="dcterms:W3CDTF">2026-10-06T05:50:33Z</dcterms:created>
  <dcterms:modified xsi:type="dcterms:W3CDTF">2026-10-06T05:50:33Z</dcterms:modified>
</cp:coreProperties>
</file>